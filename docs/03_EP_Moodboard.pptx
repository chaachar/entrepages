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</p:sldIdLst>
  <p:sldSz cx="10691813" cy="7559675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8E77"/>
    <a:srgbClr val="C89A84"/>
    <a:srgbClr val="EADEBF"/>
    <a:srgbClr val="F5AC7E"/>
    <a:srgbClr val="F7C988"/>
    <a:srgbClr val="C5C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38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9393-FF92-4B77-99CE-DE30D30C3C6A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E1E3-4FA7-47F3-B024-5D2E1E062C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273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9393-FF92-4B77-99CE-DE30D30C3C6A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E1E3-4FA7-47F3-B024-5D2E1E062C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4468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9393-FF92-4B77-99CE-DE30D30C3C6A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E1E3-4FA7-47F3-B024-5D2E1E062C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319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9393-FF92-4B77-99CE-DE30D30C3C6A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E1E3-4FA7-47F3-B024-5D2E1E062C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1608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9393-FF92-4B77-99CE-DE30D30C3C6A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E1E3-4FA7-47F3-B024-5D2E1E062C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244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9393-FF92-4B77-99CE-DE30D30C3C6A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E1E3-4FA7-47F3-B024-5D2E1E062C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3773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9393-FF92-4B77-99CE-DE30D30C3C6A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E1E3-4FA7-47F3-B024-5D2E1E062C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3104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9393-FF92-4B77-99CE-DE30D30C3C6A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E1E3-4FA7-47F3-B024-5D2E1E062C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035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9393-FF92-4B77-99CE-DE30D30C3C6A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E1E3-4FA7-47F3-B024-5D2E1E062C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732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9393-FF92-4B77-99CE-DE30D30C3C6A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E1E3-4FA7-47F3-B024-5D2E1E062C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4763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9393-FF92-4B77-99CE-DE30D30C3C6A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E1E3-4FA7-47F3-B024-5D2E1E062C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149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79393-FF92-4B77-99CE-DE30D30C3C6A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CE1E3-4FA7-47F3-B024-5D2E1E062CFC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/>
          <p:cNvSpPr txBox="1"/>
          <p:nvPr userDrawn="1"/>
        </p:nvSpPr>
        <p:spPr>
          <a:xfrm>
            <a:off x="650247" y="7207940"/>
            <a:ext cx="1500967" cy="261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2" dirty="0" smtClean="0">
                <a:latin typeface="+mj-lt"/>
              </a:rPr>
              <a:t>Version</a:t>
            </a:r>
            <a:r>
              <a:rPr lang="fr-FR" sz="1102" baseline="0" dirty="0" smtClean="0">
                <a:latin typeface="+mj-lt"/>
              </a:rPr>
              <a:t> v0.1.0</a:t>
            </a:r>
            <a:endParaRPr lang="fr-FR" sz="1102" dirty="0">
              <a:latin typeface="+mj-lt"/>
            </a:endParaRPr>
          </a:p>
        </p:txBody>
      </p:sp>
      <p:sp>
        <p:nvSpPr>
          <p:cNvPr id="8" name="ZoneTexte 7"/>
          <p:cNvSpPr txBox="1"/>
          <p:nvPr userDrawn="1"/>
        </p:nvSpPr>
        <p:spPr>
          <a:xfrm>
            <a:off x="4747061" y="7207939"/>
            <a:ext cx="1712105" cy="261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2" dirty="0" err="1" smtClean="0">
                <a:latin typeface="+mj-lt"/>
              </a:rPr>
              <a:t>EntrePages</a:t>
            </a:r>
            <a:r>
              <a:rPr lang="fr-FR" sz="1102" baseline="0" dirty="0" smtClean="0">
                <a:latin typeface="+mj-lt"/>
              </a:rPr>
              <a:t> – </a:t>
            </a:r>
            <a:r>
              <a:rPr lang="fr-FR" sz="1102" baseline="0" dirty="0" err="1" smtClean="0">
                <a:latin typeface="+mj-lt"/>
              </a:rPr>
              <a:t>Moodboard</a:t>
            </a:r>
            <a:endParaRPr lang="fr-FR" sz="1102" dirty="0">
              <a:latin typeface="+mj-lt"/>
            </a:endParaRPr>
          </a:p>
        </p:txBody>
      </p:sp>
      <p:sp>
        <p:nvSpPr>
          <p:cNvPr id="9" name="ZoneTexte 8"/>
          <p:cNvSpPr txBox="1"/>
          <p:nvPr userDrawn="1"/>
        </p:nvSpPr>
        <p:spPr>
          <a:xfrm>
            <a:off x="9299643" y="7224535"/>
            <a:ext cx="834447" cy="261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2" dirty="0" smtClean="0">
                <a:latin typeface="+mj-lt"/>
              </a:rPr>
              <a:t>04.07.2026</a:t>
            </a:r>
            <a:endParaRPr lang="fr-FR" sz="1102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2843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415" y="185909"/>
            <a:ext cx="3911346" cy="483123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4" y="185909"/>
            <a:ext cx="2857063" cy="397969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395" y="3066999"/>
            <a:ext cx="3404681" cy="3954209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5"/>
          <a:srcRect t="15348"/>
          <a:stretch/>
        </p:blipFill>
        <p:spPr>
          <a:xfrm>
            <a:off x="3095346" y="185909"/>
            <a:ext cx="3402730" cy="2672997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185810" y="4321242"/>
            <a:ext cx="2699430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fr-FR" sz="1600" dirty="0" smtClean="0">
                <a:latin typeface="+mj-lt"/>
              </a:rPr>
              <a:t>J’aime beaucoup ces inspirations car elles donnent l’envie de s’asseoir et de prendre un pause pour lire. 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7048054" y="6190211"/>
            <a:ext cx="307006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fr-FR" sz="1600" dirty="0" smtClean="0">
                <a:latin typeface="+mj-lt"/>
              </a:rPr>
              <a:t>J’aime particulièrement celle-ci car elle donne envie de partager la lecture avec quelqu’un</a:t>
            </a:r>
          </a:p>
        </p:txBody>
      </p:sp>
      <p:cxnSp>
        <p:nvCxnSpPr>
          <p:cNvPr id="17" name="Connecteur droit 16"/>
          <p:cNvCxnSpPr>
            <a:stCxn id="10" idx="1"/>
          </p:cNvCxnSpPr>
          <p:nvPr/>
        </p:nvCxnSpPr>
        <p:spPr>
          <a:xfrm flipH="1" flipV="1">
            <a:off x="6498076" y="6605081"/>
            <a:ext cx="549978" cy="629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89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l="2665" t="1365" r="4132" b="1818"/>
          <a:stretch/>
        </p:blipFill>
        <p:spPr>
          <a:xfrm>
            <a:off x="132080" y="172719"/>
            <a:ext cx="4740185" cy="697497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/>
          <a:srcRect l="4853" t="2050" r="5904" b="24143"/>
          <a:stretch/>
        </p:blipFill>
        <p:spPr>
          <a:xfrm>
            <a:off x="5059285" y="172719"/>
            <a:ext cx="2827687" cy="34036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4"/>
          <a:srcRect l="3481" t="2001" r="3989" b="1610"/>
          <a:stretch/>
        </p:blipFill>
        <p:spPr>
          <a:xfrm>
            <a:off x="5059285" y="3649131"/>
            <a:ext cx="3628741" cy="3498565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7972392" y="551080"/>
            <a:ext cx="2537188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fr-FR" sz="1600" dirty="0" smtClean="0">
                <a:latin typeface="+mj-lt"/>
              </a:rPr>
              <a:t>J’apprécie ces interfaces car elle me donne l’impression de retrouver la bibliothèque qu’on trouve dans toutes les maisons. </a:t>
            </a:r>
          </a:p>
        </p:txBody>
      </p:sp>
    </p:spTree>
    <p:extLst>
      <p:ext uri="{BB962C8B-B14F-4D97-AF65-F5344CB8AC3E}">
        <p14:creationId xmlns:p14="http://schemas.microsoft.com/office/powerpoint/2010/main" val="392557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l="4644"/>
          <a:stretch/>
        </p:blipFill>
        <p:spPr>
          <a:xfrm>
            <a:off x="0" y="0"/>
            <a:ext cx="3357238" cy="7044554"/>
          </a:xfrm>
          <a:prstGeom prst="rect">
            <a:avLst/>
          </a:prstGeom>
        </p:spPr>
      </p:pic>
      <p:grpSp>
        <p:nvGrpSpPr>
          <p:cNvPr id="15" name="Groupe 14"/>
          <p:cNvGrpSpPr/>
          <p:nvPr/>
        </p:nvGrpSpPr>
        <p:grpSpPr>
          <a:xfrm>
            <a:off x="3764280" y="158887"/>
            <a:ext cx="3108960" cy="2482714"/>
            <a:chOff x="3774440" y="158887"/>
            <a:chExt cx="3108960" cy="3752713"/>
          </a:xfrm>
        </p:grpSpPr>
        <p:sp>
          <p:nvSpPr>
            <p:cNvPr id="5" name="Rectangle à coins arrondis 4"/>
            <p:cNvSpPr/>
            <p:nvPr/>
          </p:nvSpPr>
          <p:spPr>
            <a:xfrm>
              <a:off x="3779520" y="158887"/>
              <a:ext cx="2001520" cy="562473"/>
            </a:xfrm>
            <a:prstGeom prst="roundRect">
              <a:avLst/>
            </a:prstGeom>
            <a:solidFill>
              <a:srgbClr val="EADE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ZoneTexte 5"/>
            <p:cNvSpPr txBox="1"/>
            <p:nvPr/>
          </p:nvSpPr>
          <p:spPr>
            <a:xfrm>
              <a:off x="3774440" y="158887"/>
              <a:ext cx="21850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 smtClean="0">
                  <a:latin typeface="+mj-lt"/>
                </a:rPr>
                <a:t>#EADEBF, RGB : 234, 222, 191</a:t>
              </a:r>
              <a:endParaRPr lang="fr-FR" sz="1200" dirty="0">
                <a:latin typeface="+mj-lt"/>
              </a:endParaRPr>
            </a:p>
          </p:txBody>
        </p:sp>
        <p:sp>
          <p:nvSpPr>
            <p:cNvPr id="7" name="Rectangle à coins arrondis 6"/>
            <p:cNvSpPr/>
            <p:nvPr/>
          </p:nvSpPr>
          <p:spPr>
            <a:xfrm>
              <a:off x="3774440" y="956447"/>
              <a:ext cx="2001520" cy="562473"/>
            </a:xfrm>
            <a:prstGeom prst="roundRect">
              <a:avLst/>
            </a:prstGeom>
            <a:solidFill>
              <a:srgbClr val="C5C0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ZoneTexte 7"/>
            <p:cNvSpPr txBox="1"/>
            <p:nvPr/>
          </p:nvSpPr>
          <p:spPr>
            <a:xfrm>
              <a:off x="3774440" y="964922"/>
              <a:ext cx="31089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 smtClean="0">
                  <a:latin typeface="+mj-lt"/>
                </a:rPr>
                <a:t>#C5C0999, RGB : 197, 192, 153</a:t>
              </a:r>
              <a:endParaRPr lang="fr-FR" sz="1200" dirty="0">
                <a:latin typeface="+mj-lt"/>
              </a:endParaRPr>
            </a:p>
          </p:txBody>
        </p:sp>
        <p:sp>
          <p:nvSpPr>
            <p:cNvPr id="9" name="Rectangle à coins arrondis 8"/>
            <p:cNvSpPr/>
            <p:nvPr/>
          </p:nvSpPr>
          <p:spPr>
            <a:xfrm>
              <a:off x="3779520" y="1754007"/>
              <a:ext cx="2001520" cy="562473"/>
            </a:xfrm>
            <a:prstGeom prst="roundRect">
              <a:avLst/>
            </a:prstGeom>
            <a:solidFill>
              <a:srgbClr val="F5AC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ZoneTexte 9"/>
            <p:cNvSpPr txBox="1"/>
            <p:nvPr/>
          </p:nvSpPr>
          <p:spPr>
            <a:xfrm>
              <a:off x="3774440" y="1741924"/>
              <a:ext cx="31089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 smtClean="0">
                  <a:latin typeface="+mj-lt"/>
                </a:rPr>
                <a:t>#F5AC7E, RGB : 245,172,126</a:t>
              </a:r>
              <a:endParaRPr lang="fr-FR" sz="1200" dirty="0">
                <a:latin typeface="+mj-lt"/>
              </a:endParaRPr>
            </a:p>
          </p:txBody>
        </p:sp>
        <p:sp>
          <p:nvSpPr>
            <p:cNvPr id="11" name="Rectangle à coins arrondis 10"/>
            <p:cNvSpPr/>
            <p:nvPr/>
          </p:nvSpPr>
          <p:spPr>
            <a:xfrm>
              <a:off x="3774440" y="2551567"/>
              <a:ext cx="2001520" cy="562473"/>
            </a:xfrm>
            <a:prstGeom prst="roundRect">
              <a:avLst/>
            </a:prstGeom>
            <a:solidFill>
              <a:srgbClr val="F7C9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ZoneTexte 11"/>
            <p:cNvSpPr txBox="1"/>
            <p:nvPr/>
          </p:nvSpPr>
          <p:spPr>
            <a:xfrm>
              <a:off x="3774440" y="2557264"/>
              <a:ext cx="31089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 smtClean="0">
                  <a:latin typeface="+mj-lt"/>
                </a:rPr>
                <a:t>#F7C988, RGB : 247,201,136</a:t>
              </a:r>
              <a:endParaRPr lang="fr-FR" sz="1200" dirty="0">
                <a:latin typeface="+mj-lt"/>
              </a:endParaRPr>
            </a:p>
          </p:txBody>
        </p:sp>
        <p:sp>
          <p:nvSpPr>
            <p:cNvPr id="13" name="Rectangle à coins arrondis 12"/>
            <p:cNvSpPr/>
            <p:nvPr/>
          </p:nvSpPr>
          <p:spPr>
            <a:xfrm>
              <a:off x="3774440" y="3349127"/>
              <a:ext cx="2001520" cy="562473"/>
            </a:xfrm>
            <a:prstGeom prst="roundRect">
              <a:avLst/>
            </a:prstGeom>
            <a:solidFill>
              <a:srgbClr val="788E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ZoneTexte 13"/>
            <p:cNvSpPr txBox="1"/>
            <p:nvPr/>
          </p:nvSpPr>
          <p:spPr>
            <a:xfrm>
              <a:off x="3774440" y="3354824"/>
              <a:ext cx="31089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 smtClean="0">
                  <a:latin typeface="+mj-lt"/>
                </a:rPr>
                <a:t>#788E77, RGB : 120,142,119</a:t>
              </a:r>
              <a:endParaRPr lang="fr-FR" sz="1200" dirty="0">
                <a:latin typeface="+mj-lt"/>
              </a:endParaRPr>
            </a:p>
          </p:txBody>
        </p:sp>
      </p:grpSp>
      <p:sp>
        <p:nvSpPr>
          <p:cNvPr id="16" name="ZoneTexte 15"/>
          <p:cNvSpPr txBox="1"/>
          <p:nvPr/>
        </p:nvSpPr>
        <p:spPr>
          <a:xfrm>
            <a:off x="6172842" y="97717"/>
            <a:ext cx="4277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Titre : </a:t>
            </a:r>
            <a:r>
              <a:rPr lang="fr-FR" dirty="0" err="1" smtClean="0"/>
              <a:t>EntrePages</a:t>
            </a:r>
            <a:r>
              <a:rPr lang="fr-FR" dirty="0" smtClean="0"/>
              <a:t> : </a:t>
            </a:r>
            <a:r>
              <a:rPr lang="fr-FR" dirty="0" err="1" smtClean="0"/>
              <a:t>Merriweather</a:t>
            </a:r>
            <a:endParaRPr lang="fr-FR" dirty="0" smtClean="0"/>
          </a:p>
          <a:p>
            <a:r>
              <a:rPr lang="fr-FR" dirty="0" smtClean="0"/>
              <a:t>Rappelle les livres imprimés</a:t>
            </a:r>
          </a:p>
          <a:p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6172842" y="714621"/>
            <a:ext cx="427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+mj-lt"/>
              </a:rPr>
              <a:t>Sous-titre : </a:t>
            </a:r>
            <a:r>
              <a:rPr lang="fr-FR" dirty="0" err="1" smtClean="0">
                <a:latin typeface="+mj-lt"/>
              </a:rPr>
              <a:t>elms</a:t>
            </a:r>
            <a:r>
              <a:rPr lang="fr-FR" dirty="0" smtClean="0">
                <a:latin typeface="+mj-lt"/>
              </a:rPr>
              <a:t> Sans</a:t>
            </a:r>
            <a:endParaRPr lang="fr-FR" dirty="0">
              <a:latin typeface="+mj-lt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6172842" y="1036911"/>
            <a:ext cx="427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mtClean="0">
                <a:latin typeface="+mj-lt"/>
              </a:rPr>
              <a:t>texte : elms</a:t>
            </a:r>
            <a:r>
              <a:rPr lang="fr-FR" dirty="0" smtClean="0">
                <a:latin typeface="+mj-lt"/>
              </a:rPr>
              <a:t> sans</a:t>
            </a:r>
            <a:endParaRPr lang="fr-FR" dirty="0">
              <a:latin typeface="+mj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764280" y="3007360"/>
            <a:ext cx="6487160" cy="4037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à coins arrondis 19"/>
          <p:cNvSpPr/>
          <p:nvPr/>
        </p:nvSpPr>
        <p:spPr>
          <a:xfrm>
            <a:off x="3952240" y="3190240"/>
            <a:ext cx="6146800" cy="873760"/>
          </a:xfrm>
          <a:prstGeom prst="roundRect">
            <a:avLst/>
          </a:prstGeom>
          <a:solidFill>
            <a:srgbClr val="EADE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à coins arrondis 20"/>
          <p:cNvSpPr/>
          <p:nvPr/>
        </p:nvSpPr>
        <p:spPr>
          <a:xfrm>
            <a:off x="4292600" y="3781358"/>
            <a:ext cx="944880" cy="233680"/>
          </a:xfrm>
          <a:prstGeom prst="roundRect">
            <a:avLst/>
          </a:prstGeom>
          <a:solidFill>
            <a:srgbClr val="F7C9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à coins arrondis 21"/>
          <p:cNvSpPr/>
          <p:nvPr/>
        </p:nvSpPr>
        <p:spPr>
          <a:xfrm>
            <a:off x="5425440" y="3781358"/>
            <a:ext cx="944880" cy="233680"/>
          </a:xfrm>
          <a:prstGeom prst="roundRect">
            <a:avLst/>
          </a:prstGeom>
          <a:solidFill>
            <a:srgbClr val="F7C9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à coins arrondis 22"/>
          <p:cNvSpPr/>
          <p:nvPr/>
        </p:nvSpPr>
        <p:spPr>
          <a:xfrm>
            <a:off x="6558280" y="3781358"/>
            <a:ext cx="944880" cy="233680"/>
          </a:xfrm>
          <a:prstGeom prst="roundRect">
            <a:avLst/>
          </a:prstGeom>
          <a:solidFill>
            <a:srgbClr val="F7C9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à coins arrondis 23"/>
          <p:cNvSpPr/>
          <p:nvPr/>
        </p:nvSpPr>
        <p:spPr>
          <a:xfrm>
            <a:off x="7691120" y="3781358"/>
            <a:ext cx="944880" cy="233680"/>
          </a:xfrm>
          <a:prstGeom prst="roundRect">
            <a:avLst/>
          </a:prstGeom>
          <a:solidFill>
            <a:srgbClr val="F7C9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à coins arrondis 25"/>
          <p:cNvSpPr/>
          <p:nvPr/>
        </p:nvSpPr>
        <p:spPr>
          <a:xfrm>
            <a:off x="3952240" y="4218237"/>
            <a:ext cx="2570480" cy="2672080"/>
          </a:xfrm>
          <a:prstGeom prst="roundRect">
            <a:avLst>
              <a:gd name="adj" fmla="val 5995"/>
            </a:avLst>
          </a:prstGeom>
          <a:solidFill>
            <a:srgbClr val="C5C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/>
          <p:cNvSpPr/>
          <p:nvPr/>
        </p:nvSpPr>
        <p:spPr>
          <a:xfrm>
            <a:off x="4074160" y="4947920"/>
            <a:ext cx="2296160" cy="162560"/>
          </a:xfrm>
          <a:prstGeom prst="rect">
            <a:avLst/>
          </a:prstGeom>
          <a:solidFill>
            <a:srgbClr val="788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/>
          <p:cNvSpPr/>
          <p:nvPr/>
        </p:nvSpPr>
        <p:spPr>
          <a:xfrm>
            <a:off x="4048760" y="5661333"/>
            <a:ext cx="2296160" cy="162560"/>
          </a:xfrm>
          <a:prstGeom prst="rect">
            <a:avLst/>
          </a:prstGeom>
          <a:solidFill>
            <a:srgbClr val="788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/>
          <p:cNvSpPr/>
          <p:nvPr/>
        </p:nvSpPr>
        <p:spPr>
          <a:xfrm>
            <a:off x="4048760" y="6374746"/>
            <a:ext cx="2296160" cy="162560"/>
          </a:xfrm>
          <a:prstGeom prst="rect">
            <a:avLst/>
          </a:prstGeom>
          <a:solidFill>
            <a:srgbClr val="788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/>
          <p:cNvSpPr txBox="1"/>
          <p:nvPr/>
        </p:nvSpPr>
        <p:spPr>
          <a:xfrm>
            <a:off x="4237362" y="3257788"/>
            <a:ext cx="387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EntrePages</a:t>
            </a:r>
            <a:endParaRPr lang="fr-FR" dirty="0"/>
          </a:p>
        </p:txBody>
      </p:sp>
      <p:sp>
        <p:nvSpPr>
          <p:cNvPr id="31" name="ZoneTexte 30"/>
          <p:cNvSpPr txBox="1"/>
          <p:nvPr/>
        </p:nvSpPr>
        <p:spPr>
          <a:xfrm>
            <a:off x="4074160" y="4212401"/>
            <a:ext cx="387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+mj-lt"/>
              </a:rPr>
              <a:t>Cartouche livre</a:t>
            </a:r>
            <a:endParaRPr lang="fr-FR" dirty="0">
              <a:latin typeface="+mj-lt"/>
            </a:endParaRPr>
          </a:p>
        </p:txBody>
      </p:sp>
      <p:sp>
        <p:nvSpPr>
          <p:cNvPr id="32" name="Rectangle à coins arrondis 31"/>
          <p:cNvSpPr/>
          <p:nvPr/>
        </p:nvSpPr>
        <p:spPr>
          <a:xfrm>
            <a:off x="6736080" y="4212401"/>
            <a:ext cx="3261360" cy="1448932"/>
          </a:xfrm>
          <a:prstGeom prst="roundRect">
            <a:avLst>
              <a:gd name="adj" fmla="val 6044"/>
            </a:avLst>
          </a:prstGeom>
          <a:solidFill>
            <a:srgbClr val="F5AC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6929762" y="4360802"/>
            <a:ext cx="2905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 smtClean="0">
                <a:solidFill>
                  <a:schemeClr val="bg1"/>
                </a:solidFill>
                <a:latin typeface="+mj-lt"/>
              </a:rPr>
              <a:t>Exemple de texte Exemple de texte Exemple </a:t>
            </a:r>
            <a:r>
              <a:rPr lang="fr-FR" dirty="0">
                <a:solidFill>
                  <a:schemeClr val="bg1"/>
                </a:solidFill>
                <a:latin typeface="+mj-lt"/>
              </a:rPr>
              <a:t>de </a:t>
            </a:r>
            <a:r>
              <a:rPr lang="fr-FR" dirty="0" smtClean="0">
                <a:solidFill>
                  <a:schemeClr val="bg1"/>
                </a:solidFill>
                <a:latin typeface="+mj-lt"/>
              </a:rPr>
              <a:t>texte</a:t>
            </a:r>
            <a:endParaRPr lang="fr-FR" dirty="0">
              <a:solidFill>
                <a:schemeClr val="bg1"/>
              </a:solidFill>
              <a:latin typeface="+mj-lt"/>
            </a:endParaRPr>
          </a:p>
          <a:p>
            <a:pPr algn="just"/>
            <a:r>
              <a:rPr lang="fr-FR" dirty="0" smtClean="0">
                <a:solidFill>
                  <a:schemeClr val="bg1"/>
                </a:solidFill>
                <a:latin typeface="+mj-lt"/>
              </a:rPr>
              <a:t>Exemple de texte Exemple de texte </a:t>
            </a:r>
            <a:endParaRPr lang="fr-FR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Rectangle à coins arrondis 34"/>
          <p:cNvSpPr/>
          <p:nvPr/>
        </p:nvSpPr>
        <p:spPr>
          <a:xfrm>
            <a:off x="6751962" y="5744023"/>
            <a:ext cx="3261360" cy="1146294"/>
          </a:xfrm>
          <a:prstGeom prst="roundRect">
            <a:avLst>
              <a:gd name="adj" fmla="val 6044"/>
            </a:avLst>
          </a:prstGeom>
          <a:solidFill>
            <a:srgbClr val="EADE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6858963" y="5921696"/>
            <a:ext cx="2905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 smtClean="0">
                <a:latin typeface="+mj-lt"/>
              </a:rPr>
              <a:t>Exemple de texte Exemple de texte Exemple </a:t>
            </a:r>
            <a:r>
              <a:rPr lang="fr-FR" dirty="0">
                <a:latin typeface="+mj-lt"/>
              </a:rPr>
              <a:t>de </a:t>
            </a:r>
            <a:r>
              <a:rPr lang="fr-FR" dirty="0" smtClean="0">
                <a:latin typeface="+mj-lt"/>
              </a:rPr>
              <a:t>texte</a:t>
            </a:r>
            <a:endParaRPr lang="fr-FR" dirty="0">
              <a:latin typeface="+mj-lt"/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6258560" y="1830185"/>
            <a:ext cx="3992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+mj-lt"/>
              </a:rPr>
              <a:t>Ces couleurs sont chaleureuses et correspond bien au thème cottage</a:t>
            </a:r>
            <a:endParaRPr lang="fr-F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6890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l="4644"/>
          <a:stretch/>
        </p:blipFill>
        <p:spPr>
          <a:xfrm>
            <a:off x="0" y="0"/>
            <a:ext cx="3357238" cy="7044554"/>
          </a:xfrm>
          <a:prstGeom prst="rect">
            <a:avLst/>
          </a:prstGeom>
        </p:spPr>
      </p:pic>
      <p:grpSp>
        <p:nvGrpSpPr>
          <p:cNvPr id="15" name="Groupe 14"/>
          <p:cNvGrpSpPr/>
          <p:nvPr/>
        </p:nvGrpSpPr>
        <p:grpSpPr>
          <a:xfrm>
            <a:off x="3764280" y="158887"/>
            <a:ext cx="3108960" cy="2482714"/>
            <a:chOff x="3774440" y="158887"/>
            <a:chExt cx="3108960" cy="3752713"/>
          </a:xfrm>
        </p:grpSpPr>
        <p:sp>
          <p:nvSpPr>
            <p:cNvPr id="5" name="Rectangle à coins arrondis 4"/>
            <p:cNvSpPr/>
            <p:nvPr/>
          </p:nvSpPr>
          <p:spPr>
            <a:xfrm>
              <a:off x="3779520" y="158887"/>
              <a:ext cx="2001520" cy="562473"/>
            </a:xfrm>
            <a:prstGeom prst="roundRect">
              <a:avLst/>
            </a:prstGeom>
            <a:solidFill>
              <a:srgbClr val="EADE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ZoneTexte 5"/>
            <p:cNvSpPr txBox="1"/>
            <p:nvPr/>
          </p:nvSpPr>
          <p:spPr>
            <a:xfrm>
              <a:off x="3774440" y="158887"/>
              <a:ext cx="21850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 smtClean="0">
                  <a:latin typeface="+mj-lt"/>
                </a:rPr>
                <a:t>#EADEBF, RGB : 234, 222, 191</a:t>
              </a:r>
              <a:endParaRPr lang="fr-FR" sz="1200" dirty="0">
                <a:latin typeface="+mj-lt"/>
              </a:endParaRPr>
            </a:p>
          </p:txBody>
        </p:sp>
        <p:sp>
          <p:nvSpPr>
            <p:cNvPr id="11" name="Rectangle à coins arrondis 10"/>
            <p:cNvSpPr/>
            <p:nvPr/>
          </p:nvSpPr>
          <p:spPr>
            <a:xfrm>
              <a:off x="3774440" y="1696008"/>
              <a:ext cx="2001520" cy="562473"/>
            </a:xfrm>
            <a:prstGeom prst="roundRect">
              <a:avLst/>
            </a:prstGeom>
            <a:solidFill>
              <a:srgbClr val="C89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ZoneTexte 11"/>
            <p:cNvSpPr txBox="1"/>
            <p:nvPr/>
          </p:nvSpPr>
          <p:spPr>
            <a:xfrm>
              <a:off x="3774440" y="1737932"/>
              <a:ext cx="3108960" cy="418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 smtClean="0">
                  <a:latin typeface="+mj-lt"/>
                </a:rPr>
                <a:t>#</a:t>
              </a:r>
              <a:r>
                <a:rPr lang="fr-FR" sz="1200" dirty="0" smtClean="0">
                  <a:latin typeface="+mj-lt"/>
                </a:rPr>
                <a:t>c89a84</a:t>
              </a:r>
              <a:r>
                <a:rPr lang="fr-FR" sz="1200" dirty="0" smtClean="0">
                  <a:latin typeface="+mj-lt"/>
                </a:rPr>
                <a:t>, </a:t>
              </a:r>
              <a:r>
                <a:rPr lang="fr-FR" sz="1200" dirty="0" smtClean="0">
                  <a:latin typeface="+mj-lt"/>
                </a:rPr>
                <a:t>RGB : </a:t>
              </a:r>
              <a:r>
                <a:rPr lang="fr-FR" sz="1200" dirty="0" smtClean="0">
                  <a:latin typeface="+mj-lt"/>
                </a:rPr>
                <a:t>200,154,132</a:t>
              </a:r>
              <a:endParaRPr lang="fr-FR" sz="1200" dirty="0">
                <a:latin typeface="+mj-lt"/>
              </a:endParaRPr>
            </a:p>
          </p:txBody>
        </p:sp>
        <p:sp>
          <p:nvSpPr>
            <p:cNvPr id="13" name="Rectangle à coins arrondis 12"/>
            <p:cNvSpPr/>
            <p:nvPr/>
          </p:nvSpPr>
          <p:spPr>
            <a:xfrm>
              <a:off x="3774440" y="3349127"/>
              <a:ext cx="2001520" cy="562473"/>
            </a:xfrm>
            <a:prstGeom prst="roundRect">
              <a:avLst/>
            </a:prstGeom>
            <a:solidFill>
              <a:srgbClr val="788E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ZoneTexte 13"/>
            <p:cNvSpPr txBox="1"/>
            <p:nvPr/>
          </p:nvSpPr>
          <p:spPr>
            <a:xfrm>
              <a:off x="3774440" y="3354824"/>
              <a:ext cx="31089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 smtClean="0">
                  <a:latin typeface="+mj-lt"/>
                </a:rPr>
                <a:t>#788E77, RGB : 120,142,119</a:t>
              </a:r>
              <a:endParaRPr lang="fr-FR" sz="1200" dirty="0">
                <a:latin typeface="+mj-lt"/>
              </a:endParaRPr>
            </a:p>
          </p:txBody>
        </p:sp>
      </p:grpSp>
      <p:sp>
        <p:nvSpPr>
          <p:cNvPr id="16" name="ZoneTexte 15"/>
          <p:cNvSpPr txBox="1"/>
          <p:nvPr/>
        </p:nvSpPr>
        <p:spPr>
          <a:xfrm>
            <a:off x="6172842" y="97717"/>
            <a:ext cx="4277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Titre : </a:t>
            </a:r>
            <a:r>
              <a:rPr lang="fr-FR" dirty="0" err="1" smtClean="0"/>
              <a:t>EntrePages</a:t>
            </a:r>
            <a:r>
              <a:rPr lang="fr-FR" dirty="0" smtClean="0"/>
              <a:t> : </a:t>
            </a:r>
            <a:r>
              <a:rPr lang="fr-FR" dirty="0" err="1" smtClean="0"/>
              <a:t>Merriweather</a:t>
            </a:r>
            <a:endParaRPr lang="fr-FR" dirty="0" smtClean="0"/>
          </a:p>
          <a:p>
            <a:r>
              <a:rPr lang="fr-FR" dirty="0" smtClean="0"/>
              <a:t>Rappelle les livres imprimés</a:t>
            </a:r>
          </a:p>
          <a:p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6172842" y="714621"/>
            <a:ext cx="427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+mj-lt"/>
              </a:rPr>
              <a:t>Sous-titre : </a:t>
            </a:r>
            <a:r>
              <a:rPr lang="fr-FR" dirty="0" err="1" smtClean="0">
                <a:latin typeface="+mj-lt"/>
              </a:rPr>
              <a:t>elms</a:t>
            </a:r>
            <a:r>
              <a:rPr lang="fr-FR" dirty="0" smtClean="0">
                <a:latin typeface="+mj-lt"/>
              </a:rPr>
              <a:t> Sans</a:t>
            </a:r>
            <a:endParaRPr lang="fr-FR" dirty="0">
              <a:latin typeface="+mj-lt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6172842" y="1036911"/>
            <a:ext cx="427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mtClean="0">
                <a:latin typeface="+mj-lt"/>
              </a:rPr>
              <a:t>texte : elms</a:t>
            </a:r>
            <a:r>
              <a:rPr lang="fr-FR" dirty="0" smtClean="0">
                <a:latin typeface="+mj-lt"/>
              </a:rPr>
              <a:t> sans</a:t>
            </a:r>
            <a:endParaRPr lang="fr-FR" dirty="0">
              <a:latin typeface="+mj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764280" y="3007360"/>
            <a:ext cx="6487160" cy="4037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à coins arrondis 19"/>
          <p:cNvSpPr/>
          <p:nvPr/>
        </p:nvSpPr>
        <p:spPr>
          <a:xfrm>
            <a:off x="3952240" y="3190240"/>
            <a:ext cx="6146800" cy="873760"/>
          </a:xfrm>
          <a:prstGeom prst="roundRect">
            <a:avLst/>
          </a:prstGeom>
          <a:solidFill>
            <a:srgbClr val="EADE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à coins arrondis 20"/>
          <p:cNvSpPr/>
          <p:nvPr/>
        </p:nvSpPr>
        <p:spPr>
          <a:xfrm>
            <a:off x="4292600" y="3781358"/>
            <a:ext cx="944880" cy="233680"/>
          </a:xfrm>
          <a:prstGeom prst="roundRect">
            <a:avLst/>
          </a:prstGeom>
          <a:solidFill>
            <a:srgbClr val="C89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à coins arrondis 21"/>
          <p:cNvSpPr/>
          <p:nvPr/>
        </p:nvSpPr>
        <p:spPr>
          <a:xfrm>
            <a:off x="5425440" y="3781358"/>
            <a:ext cx="944880" cy="233680"/>
          </a:xfrm>
          <a:prstGeom prst="roundRect">
            <a:avLst/>
          </a:prstGeom>
          <a:solidFill>
            <a:srgbClr val="C89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à coins arrondis 22"/>
          <p:cNvSpPr/>
          <p:nvPr/>
        </p:nvSpPr>
        <p:spPr>
          <a:xfrm>
            <a:off x="6558280" y="3781358"/>
            <a:ext cx="944880" cy="233680"/>
          </a:xfrm>
          <a:prstGeom prst="roundRect">
            <a:avLst/>
          </a:prstGeom>
          <a:solidFill>
            <a:srgbClr val="C89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à coins arrondis 23"/>
          <p:cNvSpPr/>
          <p:nvPr/>
        </p:nvSpPr>
        <p:spPr>
          <a:xfrm>
            <a:off x="7691120" y="3781358"/>
            <a:ext cx="944880" cy="233680"/>
          </a:xfrm>
          <a:prstGeom prst="roundRect">
            <a:avLst/>
          </a:prstGeom>
          <a:solidFill>
            <a:srgbClr val="C89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à coins arrondis 25"/>
          <p:cNvSpPr/>
          <p:nvPr/>
        </p:nvSpPr>
        <p:spPr>
          <a:xfrm>
            <a:off x="3952240" y="4218237"/>
            <a:ext cx="2570480" cy="2672080"/>
          </a:xfrm>
          <a:prstGeom prst="roundRect">
            <a:avLst>
              <a:gd name="adj" fmla="val 5995"/>
            </a:avLst>
          </a:prstGeom>
          <a:solidFill>
            <a:srgbClr val="EADE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/>
          <p:cNvSpPr/>
          <p:nvPr/>
        </p:nvSpPr>
        <p:spPr>
          <a:xfrm>
            <a:off x="4074160" y="4947920"/>
            <a:ext cx="2296160" cy="162560"/>
          </a:xfrm>
          <a:prstGeom prst="rect">
            <a:avLst/>
          </a:prstGeom>
          <a:solidFill>
            <a:srgbClr val="788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/>
          <p:cNvSpPr/>
          <p:nvPr/>
        </p:nvSpPr>
        <p:spPr>
          <a:xfrm>
            <a:off x="4048760" y="5661333"/>
            <a:ext cx="2296160" cy="162560"/>
          </a:xfrm>
          <a:prstGeom prst="rect">
            <a:avLst/>
          </a:prstGeom>
          <a:solidFill>
            <a:srgbClr val="788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/>
          <p:cNvSpPr/>
          <p:nvPr/>
        </p:nvSpPr>
        <p:spPr>
          <a:xfrm>
            <a:off x="4048760" y="6374746"/>
            <a:ext cx="2296160" cy="162560"/>
          </a:xfrm>
          <a:prstGeom prst="rect">
            <a:avLst/>
          </a:prstGeom>
          <a:solidFill>
            <a:srgbClr val="788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/>
          <p:cNvSpPr txBox="1"/>
          <p:nvPr/>
        </p:nvSpPr>
        <p:spPr>
          <a:xfrm>
            <a:off x="4237362" y="3257788"/>
            <a:ext cx="387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EntrePages</a:t>
            </a:r>
            <a:endParaRPr lang="fr-FR" dirty="0"/>
          </a:p>
        </p:txBody>
      </p:sp>
      <p:sp>
        <p:nvSpPr>
          <p:cNvPr id="31" name="ZoneTexte 30"/>
          <p:cNvSpPr txBox="1"/>
          <p:nvPr/>
        </p:nvSpPr>
        <p:spPr>
          <a:xfrm>
            <a:off x="4074160" y="4212401"/>
            <a:ext cx="387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+mj-lt"/>
              </a:rPr>
              <a:t>Cartouche livre</a:t>
            </a:r>
            <a:endParaRPr lang="fr-FR" dirty="0">
              <a:latin typeface="+mj-lt"/>
            </a:endParaRPr>
          </a:p>
        </p:txBody>
      </p:sp>
      <p:sp>
        <p:nvSpPr>
          <p:cNvPr id="32" name="Rectangle à coins arrondis 31"/>
          <p:cNvSpPr/>
          <p:nvPr/>
        </p:nvSpPr>
        <p:spPr>
          <a:xfrm>
            <a:off x="6736080" y="4212401"/>
            <a:ext cx="3261360" cy="1448932"/>
          </a:xfrm>
          <a:prstGeom prst="roundRect">
            <a:avLst>
              <a:gd name="adj" fmla="val 6044"/>
            </a:avLst>
          </a:prstGeom>
          <a:solidFill>
            <a:srgbClr val="788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6929762" y="4360802"/>
            <a:ext cx="2905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 smtClean="0">
                <a:solidFill>
                  <a:schemeClr val="bg1"/>
                </a:solidFill>
                <a:latin typeface="+mj-lt"/>
              </a:rPr>
              <a:t>Exemple de texte Exemple de texte Exemple </a:t>
            </a:r>
            <a:r>
              <a:rPr lang="fr-FR" dirty="0">
                <a:solidFill>
                  <a:schemeClr val="bg1"/>
                </a:solidFill>
                <a:latin typeface="+mj-lt"/>
              </a:rPr>
              <a:t>de </a:t>
            </a:r>
            <a:r>
              <a:rPr lang="fr-FR" dirty="0" smtClean="0">
                <a:solidFill>
                  <a:schemeClr val="bg1"/>
                </a:solidFill>
                <a:latin typeface="+mj-lt"/>
              </a:rPr>
              <a:t>texte</a:t>
            </a:r>
            <a:endParaRPr lang="fr-FR" dirty="0">
              <a:solidFill>
                <a:schemeClr val="bg1"/>
              </a:solidFill>
              <a:latin typeface="+mj-lt"/>
            </a:endParaRPr>
          </a:p>
          <a:p>
            <a:pPr algn="just"/>
            <a:r>
              <a:rPr lang="fr-FR" dirty="0" smtClean="0">
                <a:solidFill>
                  <a:schemeClr val="bg1"/>
                </a:solidFill>
                <a:latin typeface="+mj-lt"/>
              </a:rPr>
              <a:t>Exemple de texte Exemple de texte </a:t>
            </a:r>
            <a:endParaRPr lang="fr-FR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Rectangle à coins arrondis 34"/>
          <p:cNvSpPr/>
          <p:nvPr/>
        </p:nvSpPr>
        <p:spPr>
          <a:xfrm>
            <a:off x="6751962" y="5744023"/>
            <a:ext cx="3261360" cy="1146294"/>
          </a:xfrm>
          <a:prstGeom prst="roundRect">
            <a:avLst>
              <a:gd name="adj" fmla="val 6044"/>
            </a:avLst>
          </a:prstGeom>
          <a:solidFill>
            <a:srgbClr val="EADE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6858963" y="5921696"/>
            <a:ext cx="2905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 smtClean="0">
                <a:latin typeface="+mj-lt"/>
              </a:rPr>
              <a:t>Exemple de texte Exemple de texte Exemple </a:t>
            </a:r>
            <a:r>
              <a:rPr lang="fr-FR" dirty="0">
                <a:latin typeface="+mj-lt"/>
              </a:rPr>
              <a:t>de </a:t>
            </a:r>
            <a:r>
              <a:rPr lang="fr-FR" dirty="0" smtClean="0">
                <a:latin typeface="+mj-lt"/>
              </a:rPr>
              <a:t>texte</a:t>
            </a:r>
            <a:endParaRPr lang="fr-FR" dirty="0">
              <a:latin typeface="+mj-lt"/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6258560" y="1830185"/>
            <a:ext cx="3992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+mj-lt"/>
              </a:rPr>
              <a:t>Ces couleurs sont chaleureuses et correspond bien au thème cottage</a:t>
            </a:r>
            <a:endParaRPr lang="fr-F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54388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1689</TotalTime>
  <Words>218</Words>
  <Application>Microsoft Office PowerPoint</Application>
  <PresentationFormat>Personnalisé</PresentationFormat>
  <Paragraphs>31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Charnay ...</dc:creator>
  <cp:lastModifiedBy>Charnay ...</cp:lastModifiedBy>
  <cp:revision>14</cp:revision>
  <dcterms:created xsi:type="dcterms:W3CDTF">2026-07-04T07:38:09Z</dcterms:created>
  <dcterms:modified xsi:type="dcterms:W3CDTF">2026-07-05T12:34:09Z</dcterms:modified>
</cp:coreProperties>
</file>